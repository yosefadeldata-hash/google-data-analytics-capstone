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C1F6981-DCCC-49CE-9B2E-5C4202B0C3A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24CD4EDAF043F7/Documents/rides_by_day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24CD4EDAF043F7/Documents/rides_by_month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[avg_ride_length.csv.xlsx]avg_ride_length!PivotTable3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average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avg_ride_length!$F$1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avg_ride_length!$E$2:$E$4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avg_ride_length!$F$2:$F$4</c:f>
              <c:numCache>
                <c:formatCode>General</c:formatCode>
                <c:ptCount val="2"/>
                <c:pt idx="0">
                  <c:v>1303.723765</c:v>
                </c:pt>
                <c:pt idx="1">
                  <c:v>747.87768740000001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42-43B2-8B76-1796AFECC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5018016"/>
        <c:axId val="276715935"/>
      </c:barChart>
      <c:catAx>
        <c:axId val="1915018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6715935"/>
        <c:crosses val="autoZero"/>
        <c:auto val="1"/>
        <c:lblAlgn val="ctr"/>
        <c:lblOffset val="100"/>
        <c:noMultiLvlLbl val="0"/>
      </c:catAx>
      <c:valAx>
        <c:axId val="27671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5018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[rides_by_day.csv.xlsx]rides_by_day!PivotTable2</c:name>
    <c:fmtId val="10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rides_by_day!$G$1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rides_by_day!$F$2:$F$23</c:f>
              <c:multiLvlStrCache>
                <c:ptCount val="14"/>
                <c:lvl>
                  <c:pt idx="0">
                    <c:v>casual</c:v>
                  </c:pt>
                  <c:pt idx="1">
                    <c:v>member</c:v>
                  </c:pt>
                  <c:pt idx="2">
                    <c:v>casual</c:v>
                  </c:pt>
                  <c:pt idx="3">
                    <c:v>member</c:v>
                  </c:pt>
                  <c:pt idx="4">
                    <c:v>casual</c:v>
                  </c:pt>
                  <c:pt idx="5">
                    <c:v>member</c:v>
                  </c:pt>
                  <c:pt idx="6">
                    <c:v>casual</c:v>
                  </c:pt>
                  <c:pt idx="7">
                    <c:v>member</c:v>
                  </c:pt>
                  <c:pt idx="8">
                    <c:v>casual</c:v>
                  </c:pt>
                  <c:pt idx="9">
                    <c:v>member</c:v>
                  </c:pt>
                  <c:pt idx="10">
                    <c:v>casual</c:v>
                  </c:pt>
                  <c:pt idx="11">
                    <c:v>member</c:v>
                  </c:pt>
                  <c:pt idx="12">
                    <c:v>casual</c:v>
                  </c:pt>
                  <c:pt idx="13">
                    <c:v>member</c:v>
                  </c:pt>
                </c:lvl>
                <c:lvl>
                  <c:pt idx="0">
                    <c:v>0</c:v>
                  </c:pt>
                  <c:pt idx="2">
                    <c:v>1</c:v>
                  </c:pt>
                  <c:pt idx="4">
                    <c:v>2</c:v>
                  </c:pt>
                  <c:pt idx="6">
                    <c:v>3</c:v>
                  </c:pt>
                  <c:pt idx="8">
                    <c:v>4</c:v>
                  </c:pt>
                  <c:pt idx="10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rides_by_day!$G$2:$G$23</c:f>
              <c:numCache>
                <c:formatCode>General</c:formatCode>
                <c:ptCount val="14"/>
                <c:pt idx="0">
                  <c:v>348042</c:v>
                </c:pt>
                <c:pt idx="1">
                  <c:v>405963</c:v>
                </c:pt>
                <c:pt idx="2">
                  <c:v>245795</c:v>
                </c:pt>
                <c:pt idx="3">
                  <c:v>535670</c:v>
                </c:pt>
                <c:pt idx="4">
                  <c:v>244923</c:v>
                </c:pt>
                <c:pt idx="5">
                  <c:v>618815</c:v>
                </c:pt>
                <c:pt idx="6">
                  <c:v>235481</c:v>
                </c:pt>
                <c:pt idx="7">
                  <c:v>602616</c:v>
                </c:pt>
                <c:pt idx="8">
                  <c:v>264555</c:v>
                </c:pt>
                <c:pt idx="9">
                  <c:v>609106</c:v>
                </c:pt>
                <c:pt idx="10">
                  <c:v>331433</c:v>
                </c:pt>
                <c:pt idx="11">
                  <c:v>559952</c:v>
                </c:pt>
                <c:pt idx="12">
                  <c:v>446405</c:v>
                </c:pt>
                <c:pt idx="13">
                  <c:v>483593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1D-4D86-8A9C-D36E333B39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61868015"/>
        <c:axId val="1800148736"/>
      </c:barChart>
      <c:catAx>
        <c:axId val="261868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0148736"/>
        <c:crosses val="autoZero"/>
        <c:auto val="1"/>
        <c:lblAlgn val="ctr"/>
        <c:lblOffset val="100"/>
        <c:noMultiLvlLbl val="0"/>
      </c:catAx>
      <c:valAx>
        <c:axId val="180014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186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[rides_by_month.csv.xlsx]rides_by_month!PivotTable1</c:name>
    <c:fmtId val="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rides_by_month!$G$1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rides_by_month!$F$2:$F$38</c:f>
              <c:multiLvlStrCache>
                <c:ptCount val="24"/>
                <c:lvl>
                  <c:pt idx="0">
                    <c:v>casual</c:v>
                  </c:pt>
                  <c:pt idx="1">
                    <c:v>member</c:v>
                  </c:pt>
                  <c:pt idx="2">
                    <c:v>casual</c:v>
                  </c:pt>
                  <c:pt idx="3">
                    <c:v>member</c:v>
                  </c:pt>
                  <c:pt idx="4">
                    <c:v>casual</c:v>
                  </c:pt>
                  <c:pt idx="5">
                    <c:v>member</c:v>
                  </c:pt>
                  <c:pt idx="6">
                    <c:v>casual</c:v>
                  </c:pt>
                  <c:pt idx="7">
                    <c:v>member</c:v>
                  </c:pt>
                  <c:pt idx="8">
                    <c:v>casual</c:v>
                  </c:pt>
                  <c:pt idx="9">
                    <c:v>member</c:v>
                  </c:pt>
                  <c:pt idx="10">
                    <c:v>casual</c:v>
                  </c:pt>
                  <c:pt idx="11">
                    <c:v>member</c:v>
                  </c:pt>
                  <c:pt idx="12">
                    <c:v>casual</c:v>
                  </c:pt>
                  <c:pt idx="13">
                    <c:v>member</c:v>
                  </c:pt>
                  <c:pt idx="14">
                    <c:v>casual</c:v>
                  </c:pt>
                  <c:pt idx="15">
                    <c:v>member</c:v>
                  </c:pt>
                  <c:pt idx="16">
                    <c:v>casual</c:v>
                  </c:pt>
                  <c:pt idx="17">
                    <c:v>member</c:v>
                  </c:pt>
                  <c:pt idx="18">
                    <c:v>casual</c:v>
                  </c:pt>
                  <c:pt idx="19">
                    <c:v>member</c:v>
                  </c:pt>
                  <c:pt idx="20">
                    <c:v>casual</c:v>
                  </c:pt>
                  <c:pt idx="21">
                    <c:v>member</c:v>
                  </c:pt>
                  <c:pt idx="22">
                    <c:v>casual</c:v>
                  </c:pt>
                  <c:pt idx="23">
                    <c:v>member</c:v>
                  </c:pt>
                </c:lvl>
                <c:lvl>
                  <c:pt idx="0">
                    <c:v>1</c:v>
                  </c:pt>
                  <c:pt idx="2">
                    <c:v>2</c:v>
                  </c:pt>
                  <c:pt idx="4">
                    <c:v>3</c:v>
                  </c:pt>
                  <c:pt idx="6">
                    <c:v>4</c:v>
                  </c:pt>
                  <c:pt idx="8">
                    <c:v>5</c:v>
                  </c:pt>
                  <c:pt idx="10">
                    <c:v>6</c:v>
                  </c:pt>
                  <c:pt idx="12">
                    <c:v>7</c:v>
                  </c:pt>
                  <c:pt idx="14">
                    <c:v>8</c:v>
                  </c:pt>
                  <c:pt idx="16">
                    <c:v>9</c:v>
                  </c:pt>
                  <c:pt idx="18">
                    <c:v>10</c:v>
                  </c:pt>
                  <c:pt idx="20">
                    <c:v>11</c:v>
                  </c:pt>
                  <c:pt idx="22">
                    <c:v>12</c:v>
                  </c:pt>
                </c:lvl>
              </c:multiLvlStrCache>
            </c:multiLvlStrRef>
          </c:cat>
          <c:val>
            <c:numRef>
              <c:f>rides_by_month!$G$2:$G$38</c:f>
              <c:numCache>
                <c:formatCode>General</c:formatCode>
                <c:ptCount val="24"/>
                <c:pt idx="0">
                  <c:v>24740</c:v>
                </c:pt>
                <c:pt idx="1">
                  <c:v>113042</c:v>
                </c:pt>
                <c:pt idx="2">
                  <c:v>41173</c:v>
                </c:pt>
                <c:pt idx="3">
                  <c:v>160281</c:v>
                </c:pt>
                <c:pt idx="4">
                  <c:v>87850</c:v>
                </c:pt>
                <c:pt idx="5">
                  <c:v>229165</c:v>
                </c:pt>
                <c:pt idx="6">
                  <c:v>131526</c:v>
                </c:pt>
                <c:pt idx="7">
                  <c:v>316761</c:v>
                </c:pt>
                <c:pt idx="8">
                  <c:v>245143</c:v>
                </c:pt>
                <c:pt idx="9">
                  <c:v>408604</c:v>
                </c:pt>
                <c:pt idx="10">
                  <c:v>308485</c:v>
                </c:pt>
                <c:pt idx="11">
                  <c:v>454089</c:v>
                </c:pt>
                <c:pt idx="12">
                  <c:v>323352</c:v>
                </c:pt>
                <c:pt idx="13">
                  <c:v>440106</c:v>
                </c:pt>
                <c:pt idx="14">
                  <c:v>337878</c:v>
                </c:pt>
                <c:pt idx="15">
                  <c:v>452439</c:v>
                </c:pt>
                <c:pt idx="16">
                  <c:v>265268</c:v>
                </c:pt>
                <c:pt idx="17">
                  <c:v>449294</c:v>
                </c:pt>
                <c:pt idx="18">
                  <c:v>224038</c:v>
                </c:pt>
                <c:pt idx="19">
                  <c:v>422058</c:v>
                </c:pt>
                <c:pt idx="20">
                  <c:v>99091</c:v>
                </c:pt>
                <c:pt idx="21">
                  <c:v>257421</c:v>
                </c:pt>
                <c:pt idx="22">
                  <c:v>28090</c:v>
                </c:pt>
                <c:pt idx="23">
                  <c:v>112455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F-425A-9371-A6BCED4E8F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86051455"/>
        <c:axId val="1784165727"/>
      </c:barChart>
      <c:catAx>
        <c:axId val="17860514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4165727"/>
        <c:crosses val="autoZero"/>
        <c:auto val="1"/>
        <c:lblAlgn val="ctr"/>
        <c:lblOffset val="100"/>
        <c:noMultiLvlLbl val="0"/>
      </c:catAx>
      <c:valAx>
        <c:axId val="1784165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60514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E9D17A-44E3-4757-AFC1-7167554C81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FD8AA6-7287-4E83-9F65-C6C0756212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Source:</a:t>
          </a:r>
          <a:r>
            <a:rPr lang="en-US"/>
            <a:t> Cyclistic historical trip data (763,000+ records).</a:t>
          </a:r>
        </a:p>
      </dgm:t>
    </dgm:pt>
    <dgm:pt modelId="{AAC18827-83C9-4961-BB82-C78CD1B19B32}" type="parTrans" cxnId="{78096012-950E-4CE4-8AD4-6DE3BD375E5F}">
      <dgm:prSet/>
      <dgm:spPr/>
      <dgm:t>
        <a:bodyPr/>
        <a:lstStyle/>
        <a:p>
          <a:endParaRPr lang="en-US"/>
        </a:p>
      </dgm:t>
    </dgm:pt>
    <dgm:pt modelId="{F234E105-D046-4A26-AEC4-00F16BE9B840}" type="sibTrans" cxnId="{78096012-950E-4CE4-8AD4-6DE3BD375E5F}">
      <dgm:prSet phldrT="1" phldr="0"/>
      <dgm:spPr/>
      <dgm:t>
        <a:bodyPr/>
        <a:lstStyle/>
        <a:p>
          <a:endParaRPr lang="en-US"/>
        </a:p>
      </dgm:t>
    </dgm:pt>
    <dgm:pt modelId="{5214646B-E96A-448C-8599-DE6B4C7357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Process:</a:t>
          </a:r>
          <a:r>
            <a:rPr lang="en-US"/>
            <a:t> Cleaned and manipulated data using SQL, and visualized insights using Excel.</a:t>
          </a:r>
        </a:p>
      </dgm:t>
    </dgm:pt>
    <dgm:pt modelId="{143207A7-822C-44A6-9782-C42B0B3AAB97}" type="parTrans" cxnId="{D75275B9-8227-413E-B11C-EA51434E72D0}">
      <dgm:prSet/>
      <dgm:spPr/>
      <dgm:t>
        <a:bodyPr/>
        <a:lstStyle/>
        <a:p>
          <a:endParaRPr lang="en-US"/>
        </a:p>
      </dgm:t>
    </dgm:pt>
    <dgm:pt modelId="{51FA0E60-3BAD-4A7B-974B-5DBB22B17F0C}" type="sibTrans" cxnId="{D75275B9-8227-413E-B11C-EA51434E72D0}">
      <dgm:prSet phldrT="2" phldr="0"/>
      <dgm:spPr/>
      <dgm:t>
        <a:bodyPr/>
        <a:lstStyle/>
        <a:p>
          <a:endParaRPr lang="en-US"/>
        </a:p>
      </dgm:t>
    </dgm:pt>
    <dgm:pt modelId="{638CAA0B-C15D-48F0-8689-C26C895291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Action:</a:t>
          </a:r>
          <a:r>
            <a:rPr lang="en-US"/>
            <a:t> Created calculated fields (ride_length, day_of_week) to enable deep analysis.</a:t>
          </a:r>
        </a:p>
      </dgm:t>
    </dgm:pt>
    <dgm:pt modelId="{450BC31D-C366-4906-B3FC-A00A04FE0F16}" type="parTrans" cxnId="{7EF319AE-2A7A-424D-BC07-158B023A4F31}">
      <dgm:prSet/>
      <dgm:spPr/>
      <dgm:t>
        <a:bodyPr/>
        <a:lstStyle/>
        <a:p>
          <a:endParaRPr lang="en-US"/>
        </a:p>
      </dgm:t>
    </dgm:pt>
    <dgm:pt modelId="{63D29036-76FA-442C-9116-CD4B82A8EC30}" type="sibTrans" cxnId="{7EF319AE-2A7A-424D-BC07-158B023A4F31}">
      <dgm:prSet phldrT="3" phldr="0"/>
      <dgm:spPr/>
      <dgm:t>
        <a:bodyPr/>
        <a:lstStyle/>
        <a:p>
          <a:endParaRPr lang="en-US"/>
        </a:p>
      </dgm:t>
    </dgm:pt>
    <dgm:pt modelId="{FAD652F9-9D1F-401C-8E19-04943977177B}" type="pres">
      <dgm:prSet presAssocID="{13E9D17A-44E3-4757-AFC1-7167554C818A}" presName="root" presStyleCnt="0">
        <dgm:presLayoutVars>
          <dgm:dir/>
          <dgm:resizeHandles val="exact"/>
        </dgm:presLayoutVars>
      </dgm:prSet>
      <dgm:spPr/>
    </dgm:pt>
    <dgm:pt modelId="{6173E0DD-1F29-46C3-9F80-D308D031B429}" type="pres">
      <dgm:prSet presAssocID="{59FD8AA6-7287-4E83-9F65-C6C07562128D}" presName="compNode" presStyleCnt="0"/>
      <dgm:spPr/>
    </dgm:pt>
    <dgm:pt modelId="{4EFC0BD1-D1EA-4628-924D-253394804084}" type="pres">
      <dgm:prSet presAssocID="{59FD8AA6-7287-4E83-9F65-C6C07562128D}" presName="bgRect" presStyleLbl="bgShp" presStyleIdx="0" presStyleCnt="3"/>
      <dgm:spPr/>
    </dgm:pt>
    <dgm:pt modelId="{5FFD321B-2053-4240-A04B-2C18084D1D9E}" type="pres">
      <dgm:prSet presAssocID="{59FD8AA6-7287-4E83-9F65-C6C07562128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B097AB8-8ABF-4161-8833-67EA656BCE71}" type="pres">
      <dgm:prSet presAssocID="{59FD8AA6-7287-4E83-9F65-C6C07562128D}" presName="spaceRect" presStyleCnt="0"/>
      <dgm:spPr/>
    </dgm:pt>
    <dgm:pt modelId="{713C2B0A-9540-4BCD-9BDE-08EB340C2B16}" type="pres">
      <dgm:prSet presAssocID="{59FD8AA6-7287-4E83-9F65-C6C07562128D}" presName="parTx" presStyleLbl="revTx" presStyleIdx="0" presStyleCnt="3">
        <dgm:presLayoutVars>
          <dgm:chMax val="0"/>
          <dgm:chPref val="0"/>
        </dgm:presLayoutVars>
      </dgm:prSet>
      <dgm:spPr/>
    </dgm:pt>
    <dgm:pt modelId="{7B6F038F-4C99-4DC3-B1CC-0794A84BF5C8}" type="pres">
      <dgm:prSet presAssocID="{F234E105-D046-4A26-AEC4-00F16BE9B840}" presName="sibTrans" presStyleCnt="0"/>
      <dgm:spPr/>
    </dgm:pt>
    <dgm:pt modelId="{3BEA4A9F-C2DB-4543-A6FE-C320959C3F1D}" type="pres">
      <dgm:prSet presAssocID="{5214646B-E96A-448C-8599-DE6B4C73574C}" presName="compNode" presStyleCnt="0"/>
      <dgm:spPr/>
    </dgm:pt>
    <dgm:pt modelId="{DFE14E45-FC3E-4447-8349-879FD5A100A7}" type="pres">
      <dgm:prSet presAssocID="{5214646B-E96A-448C-8599-DE6B4C73574C}" presName="bgRect" presStyleLbl="bgShp" presStyleIdx="1" presStyleCnt="3"/>
      <dgm:spPr/>
    </dgm:pt>
    <dgm:pt modelId="{4E530075-515B-40D8-8D68-B89600F28064}" type="pres">
      <dgm:prSet presAssocID="{5214646B-E96A-448C-8599-DE6B4C73574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921A83A-6849-4FCA-B344-65CAD4424A72}" type="pres">
      <dgm:prSet presAssocID="{5214646B-E96A-448C-8599-DE6B4C73574C}" presName="spaceRect" presStyleCnt="0"/>
      <dgm:spPr/>
    </dgm:pt>
    <dgm:pt modelId="{8E083B33-2D63-4263-A2D5-B7AA9E666BD5}" type="pres">
      <dgm:prSet presAssocID="{5214646B-E96A-448C-8599-DE6B4C73574C}" presName="parTx" presStyleLbl="revTx" presStyleIdx="1" presStyleCnt="3">
        <dgm:presLayoutVars>
          <dgm:chMax val="0"/>
          <dgm:chPref val="0"/>
        </dgm:presLayoutVars>
      </dgm:prSet>
      <dgm:spPr/>
    </dgm:pt>
    <dgm:pt modelId="{A13F025F-AC6B-4F9E-A0F0-0F37742F3A58}" type="pres">
      <dgm:prSet presAssocID="{51FA0E60-3BAD-4A7B-974B-5DBB22B17F0C}" presName="sibTrans" presStyleCnt="0"/>
      <dgm:spPr/>
    </dgm:pt>
    <dgm:pt modelId="{B01DE8C1-34A5-45CE-A6D2-837C1226D986}" type="pres">
      <dgm:prSet presAssocID="{638CAA0B-C15D-48F0-8689-C26C895291B9}" presName="compNode" presStyleCnt="0"/>
      <dgm:spPr/>
    </dgm:pt>
    <dgm:pt modelId="{7559913D-452C-487E-B04E-7041BDB6BB3A}" type="pres">
      <dgm:prSet presAssocID="{638CAA0B-C15D-48F0-8689-C26C895291B9}" presName="bgRect" presStyleLbl="bgShp" presStyleIdx="2" presStyleCnt="3"/>
      <dgm:spPr/>
    </dgm:pt>
    <dgm:pt modelId="{0E8C9EAD-8ACE-4543-BDC2-766F26FF4FA1}" type="pres">
      <dgm:prSet presAssocID="{638CAA0B-C15D-48F0-8689-C26C895291B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83848EA-38AB-4389-A937-4E648BF961F2}" type="pres">
      <dgm:prSet presAssocID="{638CAA0B-C15D-48F0-8689-C26C895291B9}" presName="spaceRect" presStyleCnt="0"/>
      <dgm:spPr/>
    </dgm:pt>
    <dgm:pt modelId="{0A4B1436-1633-4765-8DFE-F98593163F2A}" type="pres">
      <dgm:prSet presAssocID="{638CAA0B-C15D-48F0-8689-C26C895291B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096012-950E-4CE4-8AD4-6DE3BD375E5F}" srcId="{13E9D17A-44E3-4757-AFC1-7167554C818A}" destId="{59FD8AA6-7287-4E83-9F65-C6C07562128D}" srcOrd="0" destOrd="0" parTransId="{AAC18827-83C9-4961-BB82-C78CD1B19B32}" sibTransId="{F234E105-D046-4A26-AEC4-00F16BE9B840}"/>
    <dgm:cxn modelId="{25D02432-51B0-4FDF-93CC-969D81876F6E}" type="presOf" srcId="{13E9D17A-44E3-4757-AFC1-7167554C818A}" destId="{FAD652F9-9D1F-401C-8E19-04943977177B}" srcOrd="0" destOrd="0" presId="urn:microsoft.com/office/officeart/2018/2/layout/IconVerticalSolidList"/>
    <dgm:cxn modelId="{8A93A539-FA4B-4C58-AB8B-A76865891FB4}" type="presOf" srcId="{5214646B-E96A-448C-8599-DE6B4C73574C}" destId="{8E083B33-2D63-4263-A2D5-B7AA9E666BD5}" srcOrd="0" destOrd="0" presId="urn:microsoft.com/office/officeart/2018/2/layout/IconVerticalSolidList"/>
    <dgm:cxn modelId="{F8CEC377-8C4B-49B1-B8EE-DBD5418D5FAA}" type="presOf" srcId="{638CAA0B-C15D-48F0-8689-C26C895291B9}" destId="{0A4B1436-1633-4765-8DFE-F98593163F2A}" srcOrd="0" destOrd="0" presId="urn:microsoft.com/office/officeart/2018/2/layout/IconVerticalSolidList"/>
    <dgm:cxn modelId="{7EF319AE-2A7A-424D-BC07-158B023A4F31}" srcId="{13E9D17A-44E3-4757-AFC1-7167554C818A}" destId="{638CAA0B-C15D-48F0-8689-C26C895291B9}" srcOrd="2" destOrd="0" parTransId="{450BC31D-C366-4906-B3FC-A00A04FE0F16}" sibTransId="{63D29036-76FA-442C-9116-CD4B82A8EC30}"/>
    <dgm:cxn modelId="{3046B0B6-F046-4CE4-9F5E-B3B7035790DA}" type="presOf" srcId="{59FD8AA6-7287-4E83-9F65-C6C07562128D}" destId="{713C2B0A-9540-4BCD-9BDE-08EB340C2B16}" srcOrd="0" destOrd="0" presId="urn:microsoft.com/office/officeart/2018/2/layout/IconVerticalSolidList"/>
    <dgm:cxn modelId="{D75275B9-8227-413E-B11C-EA51434E72D0}" srcId="{13E9D17A-44E3-4757-AFC1-7167554C818A}" destId="{5214646B-E96A-448C-8599-DE6B4C73574C}" srcOrd="1" destOrd="0" parTransId="{143207A7-822C-44A6-9782-C42B0B3AAB97}" sibTransId="{51FA0E60-3BAD-4A7B-974B-5DBB22B17F0C}"/>
    <dgm:cxn modelId="{C4F624A3-9025-44B1-9BD3-92B9AB8967E5}" type="presParOf" srcId="{FAD652F9-9D1F-401C-8E19-04943977177B}" destId="{6173E0DD-1F29-46C3-9F80-D308D031B429}" srcOrd="0" destOrd="0" presId="urn:microsoft.com/office/officeart/2018/2/layout/IconVerticalSolidList"/>
    <dgm:cxn modelId="{F3C3A978-9692-4386-A83B-14A3774B2C95}" type="presParOf" srcId="{6173E0DD-1F29-46C3-9F80-D308D031B429}" destId="{4EFC0BD1-D1EA-4628-924D-253394804084}" srcOrd="0" destOrd="0" presId="urn:microsoft.com/office/officeart/2018/2/layout/IconVerticalSolidList"/>
    <dgm:cxn modelId="{6144BF53-FC2B-4C8F-8AFC-7BA45C96C500}" type="presParOf" srcId="{6173E0DD-1F29-46C3-9F80-D308D031B429}" destId="{5FFD321B-2053-4240-A04B-2C18084D1D9E}" srcOrd="1" destOrd="0" presId="urn:microsoft.com/office/officeart/2018/2/layout/IconVerticalSolidList"/>
    <dgm:cxn modelId="{DA62EF7B-041D-4DB8-A395-72A61575D071}" type="presParOf" srcId="{6173E0DD-1F29-46C3-9F80-D308D031B429}" destId="{BB097AB8-8ABF-4161-8833-67EA656BCE71}" srcOrd="2" destOrd="0" presId="urn:microsoft.com/office/officeart/2018/2/layout/IconVerticalSolidList"/>
    <dgm:cxn modelId="{1172A0A0-0923-4B75-A802-91769D317B9E}" type="presParOf" srcId="{6173E0DD-1F29-46C3-9F80-D308D031B429}" destId="{713C2B0A-9540-4BCD-9BDE-08EB340C2B16}" srcOrd="3" destOrd="0" presId="urn:microsoft.com/office/officeart/2018/2/layout/IconVerticalSolidList"/>
    <dgm:cxn modelId="{6D371DFA-248D-403C-9636-0DCFA7974C07}" type="presParOf" srcId="{FAD652F9-9D1F-401C-8E19-04943977177B}" destId="{7B6F038F-4C99-4DC3-B1CC-0794A84BF5C8}" srcOrd="1" destOrd="0" presId="urn:microsoft.com/office/officeart/2018/2/layout/IconVerticalSolidList"/>
    <dgm:cxn modelId="{5B5FE70B-7F80-4848-B5C0-A965D4B86ED9}" type="presParOf" srcId="{FAD652F9-9D1F-401C-8E19-04943977177B}" destId="{3BEA4A9F-C2DB-4543-A6FE-C320959C3F1D}" srcOrd="2" destOrd="0" presId="urn:microsoft.com/office/officeart/2018/2/layout/IconVerticalSolidList"/>
    <dgm:cxn modelId="{03931CC2-45DC-467A-92BB-574C7354DAC7}" type="presParOf" srcId="{3BEA4A9F-C2DB-4543-A6FE-C320959C3F1D}" destId="{DFE14E45-FC3E-4447-8349-879FD5A100A7}" srcOrd="0" destOrd="0" presId="urn:microsoft.com/office/officeart/2018/2/layout/IconVerticalSolidList"/>
    <dgm:cxn modelId="{8AF5BA38-0417-4382-B0AC-0CE4C7B308DF}" type="presParOf" srcId="{3BEA4A9F-C2DB-4543-A6FE-C320959C3F1D}" destId="{4E530075-515B-40D8-8D68-B89600F28064}" srcOrd="1" destOrd="0" presId="urn:microsoft.com/office/officeart/2018/2/layout/IconVerticalSolidList"/>
    <dgm:cxn modelId="{5F588701-B63D-4203-AC1A-DE3DA4C7D199}" type="presParOf" srcId="{3BEA4A9F-C2DB-4543-A6FE-C320959C3F1D}" destId="{A921A83A-6849-4FCA-B344-65CAD4424A72}" srcOrd="2" destOrd="0" presId="urn:microsoft.com/office/officeart/2018/2/layout/IconVerticalSolidList"/>
    <dgm:cxn modelId="{142E547B-9DC0-464C-AD7A-52C3A71C3669}" type="presParOf" srcId="{3BEA4A9F-C2DB-4543-A6FE-C320959C3F1D}" destId="{8E083B33-2D63-4263-A2D5-B7AA9E666BD5}" srcOrd="3" destOrd="0" presId="urn:microsoft.com/office/officeart/2018/2/layout/IconVerticalSolidList"/>
    <dgm:cxn modelId="{B92A00D6-DDAE-4665-BBC4-847F585F0005}" type="presParOf" srcId="{FAD652F9-9D1F-401C-8E19-04943977177B}" destId="{A13F025F-AC6B-4F9E-A0F0-0F37742F3A58}" srcOrd="3" destOrd="0" presId="urn:microsoft.com/office/officeart/2018/2/layout/IconVerticalSolidList"/>
    <dgm:cxn modelId="{B62150B0-CC6E-4506-AE05-9F45B1E9148E}" type="presParOf" srcId="{FAD652F9-9D1F-401C-8E19-04943977177B}" destId="{B01DE8C1-34A5-45CE-A6D2-837C1226D986}" srcOrd="4" destOrd="0" presId="urn:microsoft.com/office/officeart/2018/2/layout/IconVerticalSolidList"/>
    <dgm:cxn modelId="{CF4D9E4C-A977-4FCC-9C4D-E18BE7CA82DD}" type="presParOf" srcId="{B01DE8C1-34A5-45CE-A6D2-837C1226D986}" destId="{7559913D-452C-487E-B04E-7041BDB6BB3A}" srcOrd="0" destOrd="0" presId="urn:microsoft.com/office/officeart/2018/2/layout/IconVerticalSolidList"/>
    <dgm:cxn modelId="{E38B5CDC-C5C6-4EDC-B731-564B1560A4E2}" type="presParOf" srcId="{B01DE8C1-34A5-45CE-A6D2-837C1226D986}" destId="{0E8C9EAD-8ACE-4543-BDC2-766F26FF4FA1}" srcOrd="1" destOrd="0" presId="urn:microsoft.com/office/officeart/2018/2/layout/IconVerticalSolidList"/>
    <dgm:cxn modelId="{B83210D2-729F-4E07-BB87-91947AD97207}" type="presParOf" srcId="{B01DE8C1-34A5-45CE-A6D2-837C1226D986}" destId="{783848EA-38AB-4389-A937-4E648BF961F2}" srcOrd="2" destOrd="0" presId="urn:microsoft.com/office/officeart/2018/2/layout/IconVerticalSolidList"/>
    <dgm:cxn modelId="{BD7F2E86-E89D-44B7-8C60-F94F96764E91}" type="presParOf" srcId="{B01DE8C1-34A5-45CE-A6D2-837C1226D986}" destId="{0A4B1436-1633-4765-8DFE-F98593163F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C0BD1-D1EA-4628-924D-253394804084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D321B-2053-4240-A04B-2C18084D1D9E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3C2B0A-9540-4BCD-9BDE-08EB340C2B16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Source:</a:t>
          </a:r>
          <a:r>
            <a:rPr lang="en-US" sz="2100" kern="1200"/>
            <a:t> Cyclistic historical trip data (763,000+ records).</a:t>
          </a:r>
        </a:p>
      </dsp:txBody>
      <dsp:txXfrm>
        <a:off x="1844034" y="682"/>
        <a:ext cx="4401230" cy="1596566"/>
      </dsp:txXfrm>
    </dsp:sp>
    <dsp:sp modelId="{DFE14E45-FC3E-4447-8349-879FD5A100A7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30075-515B-40D8-8D68-B89600F28064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83B33-2D63-4263-A2D5-B7AA9E666BD5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Process:</a:t>
          </a:r>
          <a:r>
            <a:rPr lang="en-US" sz="2100" kern="1200"/>
            <a:t> Cleaned and manipulated data using SQL, and visualized insights using Excel.</a:t>
          </a:r>
        </a:p>
      </dsp:txBody>
      <dsp:txXfrm>
        <a:off x="1844034" y="1996390"/>
        <a:ext cx="4401230" cy="1596566"/>
      </dsp:txXfrm>
    </dsp:sp>
    <dsp:sp modelId="{7559913D-452C-487E-B04E-7041BDB6BB3A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C9EAD-8ACE-4543-BDC2-766F26FF4FA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B1436-1633-4765-8DFE-F98593163F2A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Key Action:</a:t>
          </a:r>
          <a:r>
            <a:rPr lang="en-US" sz="2100" kern="1200"/>
            <a:t> Created calculated fields (ride_length, day_of_week) to enable deep analysis.</a:t>
          </a:r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3E164-C192-47A2-9124-9EF881EC3ACE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E1AEA-3B1F-473E-968F-3CA371B15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36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3E1AEA-3B1F-473E-968F-3CA371B15C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50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13600-F84B-2C8E-3A86-2DCC14AFD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C08E-A81D-3929-C455-986C8262B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56566-C47A-D4C0-BCAC-6CE1AEE5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4071-0184-1B31-2A45-ECED7188B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7F489-2FC5-48E7-FEEC-10867A4B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0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7ECC-DA56-70A5-0464-F4CBBEDBD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F3B6F-ADD5-221A-D220-8581D6660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3BB57-6C93-218D-DE41-4BD41C32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E37A-7F40-6D4F-246C-6D916C85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8C1D4-F50C-6712-0266-D19B96B9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0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88C8-B206-8E48-9436-A5CA3D8D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57FEF-5658-3832-F28E-12759D0F9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52285-1BDA-0A68-2D04-46A927B2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FA60-40F3-CB55-1E6D-B2C486D82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CAE4-ABB5-EA3F-1E5D-A089F443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00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0A4E-4FBF-EE9B-FFD2-1BDAA51A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E5E69-4E09-5AF1-69C6-F7CF6B328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9E8DC-8FD6-23DE-FCDC-9FA084F70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58B12-4E8F-D9A7-B4EE-205B1B69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F2293-856C-5AE6-9A60-B36999447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CACFC-E281-C630-11F7-0D3855F46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75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153F-2243-CB21-445D-7EB036E77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5DDB-F2F1-E74F-6121-6A7BAF3F1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F829F-BE35-488B-3CEE-C6876CB45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275AD-DC2F-79C7-8273-B698CE030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BED0C-FB16-FEB8-40A6-BBE5BE5621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9AB4E-90BF-413E-D3CC-99F5A386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59B37F-CC1A-7030-623D-39D4AC99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FF220-4704-FB33-A0A9-36DE67039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E4DB-B5AD-4EE8-5040-DB2A27E1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1D500-AE46-4EE7-E2C9-E36289FF9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B266E-AAF4-D541-CC0E-B42B188F2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28482-D4BF-E050-EB16-A0321E1F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4CCC9-B229-D325-6046-149B4ECA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D6F2B-9EAC-111C-3CDD-CC38ED50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7C76-48E6-8593-66D3-4F20F420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9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211B-BCAC-D39B-9E12-E3DC9BA6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0E41B-32E9-9AB9-588C-5999C5F60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994C0-6A9A-E6B7-0BAF-B805A8F4C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855E4-E189-6D02-377B-58EC868A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2906D-8336-A4A5-0F6A-90656E3F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BEF89-F10B-7CE3-4C20-2B23C95F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9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CFAA-ABBE-5527-DDA8-FF5F2053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DA265A-68AF-F567-052F-3E5E3420D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57726-04EE-EF85-218B-61F8CB0E7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4614-C192-8DBF-8FCC-AD4A2E1E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2F1FE-79CE-9895-6F99-19E36144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7F8DD-AEFC-341E-1130-4A34ADB7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26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81B5-D059-772A-B420-E3E46FDE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3DC71-41C7-29DE-8805-04DE818B2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63A79-2793-422C-B58C-9EEF11A3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74AF1-9037-445B-A4C5-C99EB345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CCDD5-1A87-7BE7-AF4B-0BD93D8C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F9D6F-4B30-85A9-DABB-87AD15137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7CFD4-7AD2-E1D9-E546-9A6300F2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803E-00C9-9DCE-D92B-F085D350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FFF5D-2F51-057D-4506-05C95EF6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8AE75-9E24-D93A-B8DE-8DCB4291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2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79B57-9E37-F049-E4BC-4566FD2C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EA711-9368-C7F2-C808-21E1F28DD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61086-8CEF-3897-932F-46F2B0462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778CC-BED7-433E-B6C3-B416F2B8F18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18C5-5B48-D42A-D4F6-461457B2D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215BF-AEF4-25AF-AF47-C74C14ED1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43ACB-369C-40D6-B075-D49F6358D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2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F9606A-B676-593B-7BEB-D16C9C5E21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25"/>
          <a:stretch>
            <a:fillRect/>
          </a:stretch>
        </p:blipFill>
        <p:spPr>
          <a:xfrm>
            <a:off x="3070" y="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57E2E-42E9-2152-B7B7-C9D18C670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750" y="1435353"/>
            <a:ext cx="11463452" cy="2108048"/>
          </a:xfrm>
        </p:spPr>
        <p:txBody>
          <a:bodyPr>
            <a:normAutofit fontScale="90000"/>
          </a:bodyPr>
          <a:lstStyle/>
          <a:p>
            <a:r>
              <a:rPr lang="en-US" sz="6600" b="1" dirty="0" err="1">
                <a:solidFill>
                  <a:schemeClr val="bg1"/>
                </a:solidFill>
              </a:rPr>
              <a:t>Cyclistic</a:t>
            </a:r>
            <a:r>
              <a:rPr lang="en-US" sz="6600" b="1" dirty="0">
                <a:solidFill>
                  <a:schemeClr val="bg1"/>
                </a:solidFill>
              </a:rPr>
              <a:t> Bike-Share Case Study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sz="5300" dirty="0">
                <a:solidFill>
                  <a:schemeClr val="bg1"/>
                </a:solidFill>
              </a:rPr>
              <a:t>Data Analysis &amp; Insights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B940B-517E-3C77-92AF-C6BB4EF11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YOSEF ADEL</a:t>
            </a:r>
          </a:p>
          <a:p>
            <a:r>
              <a:rPr lang="en-US">
                <a:solidFill>
                  <a:schemeClr val="bg1"/>
                </a:solidFill>
              </a:rPr>
              <a:t>July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3697B-EB75-67F4-3D09-09BD345D7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58" r="1273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023DD-5A8A-D8DC-2EBE-C4B9E01B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DBF5-CE88-01D8-1F42-7F71C89E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b="1"/>
              <a:t>Objective:</a:t>
            </a:r>
            <a:r>
              <a:rPr lang="en-US" sz="2000"/>
              <a:t> Understanding how annual members and casual riders use Cyclistic bikes differently.</a:t>
            </a:r>
            <a:endParaRPr lang="ar-EG" sz="2000"/>
          </a:p>
          <a:p>
            <a:r>
              <a:rPr lang="en-US" sz="2000" b="1"/>
              <a:t>The Goal:</a:t>
            </a:r>
            <a:r>
              <a:rPr lang="en-US" sz="2000"/>
              <a:t> Design marketing strategies to convert casual riders into annual members.</a:t>
            </a:r>
          </a:p>
        </p:txBody>
      </p:sp>
    </p:spTree>
    <p:extLst>
      <p:ext uri="{BB962C8B-B14F-4D97-AF65-F5344CB8AC3E}">
        <p14:creationId xmlns:p14="http://schemas.microsoft.com/office/powerpoint/2010/main" val="558490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1EC24-EA3C-BAF7-8398-C7E1BE286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Data Process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36EADA1-B06B-4DC2-A172-3C9D181E5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42148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93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2010B-8CCA-0F98-7699-82544D1C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 dirty="0"/>
              <a:t>Key Insights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FC32F-516A-A665-2322-E3E5C5B70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Ride Length:</a:t>
            </a:r>
            <a:r>
              <a:rPr lang="en-US" sz="2000" dirty="0"/>
              <a:t> Casual riders take significantly longer trips (average 1303s) compared to members (747s), indicating a leisure-oriented usage.</a:t>
            </a:r>
            <a:endParaRPr lang="ar-EG" sz="2000" dirty="0"/>
          </a:p>
          <a:p>
            <a:endParaRPr lang="en-US" sz="2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8877A8-C807-A62B-F388-24FFC100BC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549604"/>
              </p:ext>
            </p:extLst>
          </p:nvPr>
        </p:nvGraphicFramePr>
        <p:xfrm>
          <a:off x="635295" y="2524715"/>
          <a:ext cx="5150277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9095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EB3291-5D24-B2BF-DF06-1DE759BD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 dirty="0"/>
              <a:t>Key Insights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35F9-466B-6959-683C-DD07451C0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Weekly Trends:</a:t>
            </a:r>
            <a:r>
              <a:rPr lang="en-US" sz="2000"/>
              <a:t> Casual activity peaks on weekends, while member activity is stable throughout the week, confirming members use bikes for commuting.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DA070C8-0832-CA68-ACD0-B392179A60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5372150"/>
              </p:ext>
            </p:extLst>
          </p:nvPr>
        </p:nvGraphicFramePr>
        <p:xfrm>
          <a:off x="391887" y="2524715"/>
          <a:ext cx="5855206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005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3AEBD-0341-F80C-2BC2-8B8B1402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sz="4800"/>
              <a:t>Key Insights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A025-127D-68A5-CFED-7E1E7AF4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b="1"/>
              <a:t>Seasonality:</a:t>
            </a:r>
            <a:r>
              <a:rPr lang="en-US" sz="2000"/>
              <a:t> Casual usage drops significantly during winter months, while member usage remains consistent year-round.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AD878E4-7F3E-A422-8482-4C86EDEDAC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306667"/>
              </p:ext>
            </p:extLst>
          </p:nvPr>
        </p:nvGraphicFramePr>
        <p:xfrm>
          <a:off x="635295" y="2524715"/>
          <a:ext cx="5150277" cy="371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9999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9D949-C6BD-EBDF-B241-7614B1DB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Strategic Recommendations</a:t>
            </a:r>
          </a:p>
        </p:txBody>
      </p:sp>
      <p:pic>
        <p:nvPicPr>
          <p:cNvPr id="7" name="Graphic 6" descr="Bike">
            <a:extLst>
              <a:ext uri="{FF2B5EF4-FFF2-40B4-BE49-F238E27FC236}">
                <a16:creationId xmlns:a16="http://schemas.microsoft.com/office/drawing/2014/main" id="{EF0BC516-7780-C1B0-2961-9FBF04947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74AB9-FAA6-54EE-F421-700E31AE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Recommendation 1:</a:t>
            </a:r>
            <a:r>
              <a:rPr lang="en-US" sz="1800" dirty="0">
                <a:solidFill>
                  <a:schemeClr val="tx2"/>
                </a:solidFill>
              </a:rPr>
              <a:t> Launch a "Summer Membership Pass" targeting casual riders when their activity is at its peak (May–September)</a:t>
            </a:r>
            <a:endParaRPr lang="ar-EG" sz="1800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tx2"/>
                </a:solidFill>
              </a:rPr>
              <a:t>Recommendation 2:</a:t>
            </a:r>
            <a:r>
              <a:rPr lang="en-US" sz="1800" dirty="0">
                <a:solidFill>
                  <a:schemeClr val="tx2"/>
                </a:solidFill>
              </a:rPr>
              <a:t> Introduce weekend-focused marketing campaigns to highlight the value of annual membership for frequent weekend riders.</a:t>
            </a:r>
            <a:endParaRPr lang="ar-EG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526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213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Cyclistic Bike-Share Case Study Data Analysis &amp; Insights Report</vt:lpstr>
      <vt:lpstr>Introduction </vt:lpstr>
      <vt:lpstr>Data Process</vt:lpstr>
      <vt:lpstr>Key Insights</vt:lpstr>
      <vt:lpstr>Key Insights</vt:lpstr>
      <vt:lpstr>Key Insights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Yosef Adel</dc:creator>
  <cp:lastModifiedBy>Yosef Adel</cp:lastModifiedBy>
  <cp:revision>4</cp:revision>
  <dcterms:created xsi:type="dcterms:W3CDTF">2026-07-18T19:02:48Z</dcterms:created>
  <dcterms:modified xsi:type="dcterms:W3CDTF">2026-07-18T19:43:38Z</dcterms:modified>
</cp:coreProperties>
</file>